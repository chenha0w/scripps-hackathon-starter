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74" r:id="rId9"/>
    <p:sldId id="263" r:id="rId10"/>
    <p:sldId id="264" r:id="rId11"/>
    <p:sldId id="265" r:id="rId12"/>
    <p:sldId id="288" r:id="rId13"/>
    <p:sldId id="275" r:id="rId14"/>
    <p:sldId id="266" r:id="rId15"/>
    <p:sldId id="268" r:id="rId16"/>
    <p:sldId id="269" r:id="rId17"/>
    <p:sldId id="270" r:id="rId18"/>
    <p:sldId id="271" r:id="rId19"/>
    <p:sldId id="272" r:id="rId20"/>
    <p:sldId id="289" r:id="rId21"/>
    <p:sldId id="273" r:id="rId22"/>
    <p:sldId id="276" r:id="rId23"/>
    <p:sldId id="277" r:id="rId24"/>
    <p:sldId id="278" r:id="rId25"/>
    <p:sldId id="279" r:id="rId26"/>
    <p:sldId id="280" r:id="rId27"/>
    <p:sldId id="286" r:id="rId28"/>
    <p:sldId id="287" r:id="rId29"/>
    <p:sldId id="281" r:id="rId30"/>
    <p:sldId id="282" r:id="rId31"/>
    <p:sldId id="283" r:id="rId32"/>
    <p:sldId id="284" r:id="rId33"/>
    <p:sldId id="290" r:id="rId34"/>
    <p:sldId id="291" r:id="rId35"/>
    <p:sldId id="285" r:id="rId3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B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A0C7C-F0D4-4430-AD35-47F85BD0DD99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D3761-BB05-4B69-BC17-3780675B2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1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LLM variants isolate the value of context. CellTypist is the incumbent. Ground truth: Seurat PBMC (immune) + scIB pancreas.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human-in-the-loop part: one prompt, Claude planned it, and 3 design questions set the direction. Bedrock Converse gives one interface to many model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engineering choices: Bedrock Converse for uniform multi-model calls; an LLM judge to map free-text predictions onto the dataset's label set so every method is scored the same way; cluster-level comparison since the LLM annotates per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story of the collaboration: each issue was caught by inspecting results and corrected. The granularity fix is the big lesson — match the reference's resolution to your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Headline: with a fine-grained reference model, CellTypist matches the best LLM — and is far faster. But it needed the RIGHT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a tissue where no perfectly-matched reference model exists, the context-grounded LLM wins. CellTypist's accuracy is propped up by abundant endocrine cells; it fails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+ PubMed grounding helps, but not uniformly — biggest gains when the task is harder (unfamiliar tissue) or the model is strong enough to use the extra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CellTypist is cheap when a matching model exists. LLMs cost more wall-time but need no reference and work on any tissue. Pick by whether a good reference model exists for your tissue.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 important caveat: the granularity-matching effect. Also flag that the harmonization judge is an imperfect ruler, and that this is 2 datasets, not a general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03EF-99C6-A158-8D7E-3344D02B1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20ACA-14FA-3897-A989-FFE1FC317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5AB50-6FEE-E573-69F6-A12DB9951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CellTypist is cheap when a matching model exists. LLMs cost more wall-time but need no reference and work on any tissue. Pick by whether a good reference model exists for your tissue.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0E273-C125-16AA-C7FB-215A275FF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07341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Close: the two paradigms are converging on accuracy; choose by cost and whether a matching reference exists. And — meta-point — this was built collaboratively with Claude Code start to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2357"/>
            <a:ext cx="12188952" cy="3108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20957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</a:rPr>
              <a:t>Cell-Type Annotation in Single-Cell Genomics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81077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ED6F1"/>
                </a:solidFill>
              </a:rPr>
              <a:t>A gentle introduction for biology and chemistry audiences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95477"/>
            <a:ext cx="201168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11376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Single-Cell RNA-seq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095477"/>
            <a:ext cx="201168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311376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Gene Expression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3095477"/>
            <a:ext cx="2011680" cy="59436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311376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Marker Genes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095477"/>
            <a:ext cx="20116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311376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Zero-Shot Annotation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3095477"/>
            <a:ext cx="2011680" cy="5943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311376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Reference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Scripps Research Hackathon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5258E8-C307-34B9-7327-39C36562734E}"/>
              </a:ext>
            </a:extLst>
          </p:cNvPr>
          <p:cNvSpPr txBox="1"/>
          <p:nvPr/>
        </p:nvSpPr>
        <p:spPr>
          <a:xfrm>
            <a:off x="6344897" y="4665314"/>
            <a:ext cx="1757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Chenhao Wu</a:t>
            </a:r>
          </a:p>
          <a:p>
            <a:r>
              <a:rPr lang="en-US" dirty="0">
                <a:solidFill>
                  <a:schemeClr val="bg1"/>
                </a:solidFill>
              </a:rPr>
              <a:t>Eduard Ansaldo </a:t>
            </a:r>
          </a:p>
          <a:p>
            <a:r>
              <a:rPr lang="en-US" dirty="0" err="1">
                <a:solidFill>
                  <a:schemeClr val="bg1"/>
                </a:solidFill>
              </a:rPr>
              <a:t>Juyeon</a:t>
            </a:r>
            <a:r>
              <a:rPr lang="en-US" dirty="0">
                <a:solidFill>
                  <a:schemeClr val="bg1"/>
                </a:solidFill>
              </a:rPr>
              <a:t> Park</a:t>
            </a:r>
          </a:p>
          <a:p>
            <a:r>
              <a:rPr lang="en-US" dirty="0">
                <a:solidFill>
                  <a:schemeClr val="bg1"/>
                </a:solidFill>
              </a:rPr>
              <a:t>Xing Zhang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92DFE6-776B-BDF5-BEB7-9A0EB17EFBC6}"/>
              </a:ext>
            </a:extLst>
          </p:cNvPr>
          <p:cNvSpPr txBox="1"/>
          <p:nvPr/>
        </p:nvSpPr>
        <p:spPr>
          <a:xfrm>
            <a:off x="3360616" y="5035381"/>
            <a:ext cx="263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Team Annotator: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Central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A tissue contains many different cell types — but how do we tell them apart?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29FF4-A925-6B3E-D909-C6B64F2AF3F9}"/>
              </a:ext>
            </a:extLst>
          </p:cNvPr>
          <p:cNvSpPr txBox="1"/>
          <p:nvPr/>
        </p:nvSpPr>
        <p:spPr>
          <a:xfrm>
            <a:off x="1845734" y="950976"/>
            <a:ext cx="1526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Tissue sample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is Gene Expression?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The molecular language that defines cell identity  |  Accessible for chemists and biologists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Single-Cell RNA Sequencing (scRNA-seq)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Measuring gene activity in thousands of individual cells simultaneously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Method 1: Zero-Shot Annotation with Marker 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Annotate without training data — use biological prior knowledge directly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04672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70402-A4EA-21C9-9765-CA5FC2339419}"/>
              </a:ext>
            </a:extLst>
          </p:cNvPr>
          <p:cNvSpPr/>
          <p:nvPr/>
        </p:nvSpPr>
        <p:spPr>
          <a:xfrm>
            <a:off x="9414933" y="4182533"/>
            <a:ext cx="2426547" cy="214511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2B1DC-3DBC-B9D7-DE31-066E4577EDD2}"/>
              </a:ext>
            </a:extLst>
          </p:cNvPr>
          <p:cNvSpPr/>
          <p:nvPr/>
        </p:nvSpPr>
        <p:spPr>
          <a:xfrm>
            <a:off x="6692353" y="3429000"/>
            <a:ext cx="530208" cy="468714"/>
          </a:xfrm>
          <a:prstGeom prst="rect">
            <a:avLst/>
          </a:prstGeom>
          <a:solidFill>
            <a:srgbClr val="FDEBD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7DACC5-51E7-7B4A-995A-3A5408E0C354}"/>
              </a:ext>
            </a:extLst>
          </p:cNvPr>
          <p:cNvSpPr/>
          <p:nvPr/>
        </p:nvSpPr>
        <p:spPr>
          <a:xfrm>
            <a:off x="-13716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Data Matrix to UMAP: Finding Cell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Dimensionality reduction collapses 20,000 genes → 2D map.  Similar cells cluster together.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</a:rPr>
              <a:t>Marker Genes: The Molecular Fingerprints of Cell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Some genes are uniquely and highly expressed in specific cell types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1248"/>
            <a:ext cx="7132320" cy="4754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005840"/>
          <a:ext cx="452627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Gene(s)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Cell Type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CD3D / CD3E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T cells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T-cell receptor complex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CD79A / MS4A1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B cells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B-cell receptor complex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CD14 / LYZ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CD14+ Mono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Innate immunity / phagocytosis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FCGR3A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FCGR3A+ Mono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 receptor (non-classical)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GNLY / NKG7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NK cells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Cytotoxic granule proteins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FCER1A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Dendritic cells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IgE receptor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PPBP / PF4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Megakaryocytes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252F"/>
                          </a:solidFill>
                        </a:rPr>
                        <a:t>Platelet factors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C2A6D6-FDD5-321A-D081-7014A879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29" y="777240"/>
            <a:ext cx="10858500" cy="57816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204415-8B4A-828E-76FB-1A01DA891EC7}"/>
              </a:ext>
            </a:extLst>
          </p:cNvPr>
          <p:cNvSpPr/>
          <p:nvPr/>
        </p:nvSpPr>
        <p:spPr>
          <a:xfrm>
            <a:off x="-127" y="0"/>
            <a:ext cx="12188952" cy="77724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55881-6F9F-6765-4C79-69F8936B15A2}"/>
              </a:ext>
            </a:extLst>
          </p:cNvPr>
          <p:cNvSpPr txBox="1"/>
          <p:nvPr/>
        </p:nvSpPr>
        <p:spPr>
          <a:xfrm>
            <a:off x="228600" y="45720"/>
            <a:ext cx="1143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1" i="0" dirty="0">
                <a:solidFill>
                  <a:srgbClr val="FFFFFF"/>
                </a:solidFill>
              </a:rPr>
              <a:t>Difficulty in manual labeling clusters</a:t>
            </a:r>
            <a:endParaRPr sz="2200" b="1" i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901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Method 2: Reference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Compare your cells to a large, annotated atlas and borrow their labels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303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2641AC-0B79-5700-635E-E379A3683028}"/>
              </a:ext>
            </a:extLst>
          </p:cNvPr>
          <p:cNvSpPr txBox="1"/>
          <p:nvPr/>
        </p:nvSpPr>
        <p:spPr>
          <a:xfrm>
            <a:off x="7105227" y="3005681"/>
            <a:ext cx="1488440" cy="646331"/>
          </a:xfrm>
          <a:prstGeom prst="rect">
            <a:avLst/>
          </a:prstGeom>
          <a:solidFill>
            <a:srgbClr val="FDEBD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Training +</a:t>
            </a:r>
          </a:p>
          <a:p>
            <a:r>
              <a:rPr lang="en-US" dirty="0"/>
              <a:t>Label transfer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2830A5-6B4B-FA83-F976-72C753550C9E}"/>
              </a:ext>
            </a:extLst>
          </p:cNvPr>
          <p:cNvCxnSpPr/>
          <p:nvPr/>
        </p:nvCxnSpPr>
        <p:spPr>
          <a:xfrm>
            <a:off x="7459133" y="3970867"/>
            <a:ext cx="9059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Why Does Cell-Type Annotation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ED6F1"/>
                </a:solidFill>
              </a:rPr>
              <a:t>Annotated cells unlock biological and clinical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3749039" cy="20116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051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Disease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554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Identify which cell types are expanded or
depleted in cancer, autoimmune disease, or infection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0120"/>
            <a:ext cx="3749039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9392" y="1051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Drug Target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554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Find the exact cell type where a drug acts —
or should act — in the body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960120"/>
            <a:ext cx="3749039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051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Immune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554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Track how T, B, NK cells change before and
after vaccination or treatment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246120"/>
            <a:ext cx="3749039" cy="2011680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" y="3337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Cell Atlas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3840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Build maps of every cell type in the
human body (Human Cell Atlas project)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246120"/>
            <a:ext cx="3749039" cy="2011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9392" y="3337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Biomarker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2" y="3840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Identify rare cell populations that predict
patient outcomes or disease progression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246120"/>
            <a:ext cx="3749039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3337560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Drug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840480"/>
            <a:ext cx="36027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Understand off-target effects: which cell types
are affected by a new compound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6263640"/>
            <a:ext cx="11731752" cy="384048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62819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Without cell-type annotation, single-cell data is just 20,000 numbers per cell — annotation gives it biological meaning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Introduction to Cell-Type Annotation  |  Scripps Research Hackathon 2026  |  9/10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Summary: Zero-Shot vs Reference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AED6F1"/>
                </a:solidFill>
              </a:rPr>
              <a:t>Two complementary strategies — use both for the most reliable annotation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017690"/>
              </p:ext>
            </p:extLst>
          </p:nvPr>
        </p:nvGraphicFramePr>
        <p:xfrm>
          <a:off x="228600" y="802640"/>
          <a:ext cx="11704320" cy="3051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945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Zero-Shot (Marker Genes)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Reference Mapping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Granularity</a:t>
                      </a:r>
                    </a:p>
                  </a:txBody>
                  <a:tcPr anchor="ctr"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Cluster-level
(all cells in a cluster get same label)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Cell-level
(each cell annotated independently)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Limitations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- Limited by cluster resolutio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n, may m</a:t>
                      </a:r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isses rare cell types
- 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Rely on one’s biological background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- Very time consuming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- Needs a good reference
- 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Less interpretive, black box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Advantages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- </a:t>
                      </a:r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No reference 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needed, good for novel tissue</a:t>
                      </a:r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
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- interpretive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 - Benefit from large datasets, can achieve high accuracy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Faster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Do not require specific biology background 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58E1-008E-B4A2-8E5D-B231EF645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FB125C-EF21-D1AD-BC3A-A40243AE797D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2C9F0-B423-4322-0443-0C34560B6DA2}"/>
              </a:ext>
            </a:extLst>
          </p:cNvPr>
          <p:cNvSpPr txBox="1"/>
          <p:nvPr/>
        </p:nvSpPr>
        <p:spPr>
          <a:xfrm>
            <a:off x="228600" y="45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Summary: Zero-Shot vs Reference Mapping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5CE2B-1A21-EED5-E419-9A7ED1DB19D0}"/>
              </a:ext>
            </a:extLst>
          </p:cNvPr>
          <p:cNvSpPr txBox="1"/>
          <p:nvPr/>
        </p:nvSpPr>
        <p:spPr>
          <a:xfrm>
            <a:off x="228600" y="47548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AED6F1"/>
                </a:solidFill>
              </a:rPr>
              <a:t>Two complementary strategies — use both for the most reliable annotation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7C7879-C914-FD00-9251-914B5504F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437919"/>
              </p:ext>
            </p:extLst>
          </p:nvPr>
        </p:nvGraphicFramePr>
        <p:xfrm>
          <a:off x="228600" y="802640"/>
          <a:ext cx="11704320" cy="3754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945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Zero-Shot (Marker Genes)</a:t>
                      </a:r>
                    </a:p>
                  </a:txBody>
                  <a:tcPr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Reference Mapping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Granularity</a:t>
                      </a:r>
                    </a:p>
                  </a:txBody>
                  <a:tcPr anchor="ctr"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Cluster-level
(all cells in a cluster get same label)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Cell-level
(each cell annotated independently)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Limitations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- Limited by cluster resolutio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n, may m</a:t>
                      </a:r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isses rare cell types
- 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Rely on one’s biological background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- Very time consuming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- Needs a good reference
- 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Less interpretive, black box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Advantages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- </a:t>
                      </a:r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No reference 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needed, good for novel tissue</a:t>
                      </a:r>
                      <a:r>
                        <a:rPr sz="1600" b="0" dirty="0">
                          <a:solidFill>
                            <a:srgbClr val="1A252F"/>
                          </a:solidFill>
                        </a:rPr>
                        <a:t>
</a:t>
                      </a: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- interpretive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 - Benefit from large datasets, can achieve high accuracy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Faster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1A252F"/>
                          </a:solidFill>
                        </a:rPr>
                        <a:t>Do not require specific biology background </a:t>
                      </a:r>
                      <a:endParaRPr sz="1600" b="0" dirty="0">
                        <a:solidFill>
                          <a:srgbClr val="1A252F"/>
                        </a:solidFill>
                      </a:endParaRP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C00000"/>
                          </a:solidFill>
                        </a:rPr>
                        <a:t>When using LLM, we expect…</a:t>
                      </a:r>
                      <a:endParaRPr sz="1600" b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C00000"/>
                          </a:solidFill>
                        </a:rPr>
                        <a:t>Utilize their knowledge on marker genes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C00000"/>
                          </a:solidFill>
                        </a:rPr>
                        <a:t>Speed up the whole process</a:t>
                      </a:r>
                      <a:endParaRPr sz="1600" b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C00000"/>
                          </a:solidFill>
                        </a:rPr>
                        <a:t>Help select right tool and reference datasets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600" b="0" dirty="0">
                          <a:solidFill>
                            <a:srgbClr val="C00000"/>
                          </a:solidFill>
                        </a:rPr>
                        <a:t>Build automated pipeline</a:t>
                      </a:r>
                      <a:endParaRPr sz="1600" b="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7375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6D9FFBD-5110-DE45-B68D-AE67593B782A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4854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E299-2626-F5DE-1C38-0F6F228E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8056F5-F8C3-80DC-BFE7-2E11C7920E74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9FCED-A5C5-058E-8459-AAB933E3EEB7}"/>
              </a:ext>
            </a:extLst>
          </p:cNvPr>
          <p:cNvSpPr txBox="1"/>
          <p:nvPr/>
        </p:nvSpPr>
        <p:spPr>
          <a:xfrm>
            <a:off x="228600" y="457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Benchmark different LLM model on 2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2D9D0-012E-5F16-C4BB-6108395A9238}"/>
              </a:ext>
            </a:extLst>
          </p:cNvPr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ED6F1"/>
                </a:solidFill>
              </a:rPr>
              <a:t>What did each LLM choose for each method?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053F1-872C-E346-2076-92CD543B1EB8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9FBB31-15AF-370F-F14E-33849AF5970D}"/>
              </a:ext>
            </a:extLst>
          </p:cNvPr>
          <p:cNvSpPr txBox="1"/>
          <p:nvPr/>
        </p:nvSpPr>
        <p:spPr>
          <a:xfrm>
            <a:off x="736947" y="1507066"/>
            <a:ext cx="1071492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Prompt: </a:t>
            </a:r>
          </a:p>
          <a:p>
            <a:endParaRPr lang="en-US" sz="2000" b="1" dirty="0"/>
          </a:p>
          <a:p>
            <a:r>
              <a:rPr lang="en-US" dirty="0">
                <a:highlight>
                  <a:srgbClr val="00FF00"/>
                </a:highlight>
              </a:rPr>
              <a:t>Reference mapping:</a:t>
            </a:r>
          </a:p>
          <a:p>
            <a:r>
              <a:rPr lang="en-US" i="1" dirty="0"/>
              <a:t>Do cell-type annotation on pbmc3k datasets (do not use its existing annotation). </a:t>
            </a:r>
            <a:r>
              <a:rPr lang="en-US" i="1" u="sng" dirty="0"/>
              <a:t>Use reference mapping with whatever well-characterized reference you think suitable and whatever tool you think best fit</a:t>
            </a:r>
            <a:r>
              <a:rPr lang="en-US" i="1" dirty="0"/>
              <a:t>. Generate whole pipeline and save scripts for review. In the end, compare output annotation with its existing annotation and calculate metrics that reflect accuracy, also output memory and time usage. 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00FFFF"/>
                </a:highlight>
              </a:rPr>
              <a:t>Zero-shot annotation:</a:t>
            </a:r>
          </a:p>
          <a:p>
            <a:r>
              <a:rPr lang="en-US" i="1" dirty="0"/>
              <a:t>Do cell-type annotation on pbmc3k datasets (do not use its existing annotation). </a:t>
            </a:r>
            <a:r>
              <a:rPr lang="en-US" i="1" u="sng" dirty="0"/>
              <a:t>Cluster and Use zero-shot annotation with marker genes based on your knowledge, instead of label transferring tools</a:t>
            </a:r>
            <a:r>
              <a:rPr lang="en-US" i="1" dirty="0"/>
              <a:t>. Generate whole pipeline and save scripts for review. In the end, compare output annotation with its existing annotation and calculate metrics that reflect accuracy, also output memory and time usage.</a:t>
            </a:r>
          </a:p>
        </p:txBody>
      </p:sp>
    </p:spTree>
    <p:extLst>
      <p:ext uri="{BB962C8B-B14F-4D97-AF65-F5344CB8AC3E}">
        <p14:creationId xmlns:p14="http://schemas.microsoft.com/office/powerpoint/2010/main" val="3612997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Pipeline Design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What did each LLM choose for each method?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68680"/>
          <a:ext cx="11731752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Claude (Haiku 4.5)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Llama (3.1 70B)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Gemma (3 27B)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Zero-Shot Approach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LLM API call via Bedrock
(biological reasoning)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Avg marker gene expression
per cluster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Sum marker gene expression
per cell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Zero-Shot Granularity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Cluster-level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Cluster-level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Per-cell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Reference Method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CellTypist
(logistic regression)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Centroid dot-product
similarity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Scanorama integration
+ KNN label transfer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Reference Dataset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Immune_All_High
(700k cells, 20+ studies)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pbmc68k_reduced
(700 cells, 10x)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pbmc68k_reduced
(700 cells, 10x)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Code Structure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4 scripts (pipeline)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1 monolithic script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6 modular scripts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Requires Bedrock API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Yes (LLM call)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Accuracy — Zero-Shot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85.1%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85.1%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76.4%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Accuracy — Reference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88.9%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52F"/>
                          </a:solidFill>
                        </a:rPr>
                        <a:t>73.2%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1A252F"/>
                          </a:solidFill>
                        </a:rPr>
                        <a:t>77.0%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2/8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Zero-Shot Annotation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Cluster marker genes → cell type label  |  No reference data used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33" y="2784224"/>
            <a:ext cx="5381413" cy="373709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36777"/>
              </p:ext>
            </p:extLst>
          </p:nvPr>
        </p:nvGraphicFramePr>
        <p:xfrm>
          <a:off x="6326293" y="3035785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Wtd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Kappa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Mem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Claude (Haiku 4.5)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0.673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0.804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0.794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2.0 s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bg1"/>
                          </a:solidFill>
                        </a:rPr>
                        <a:t>10 MB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Llama (3.1 70B)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</a:rPr>
                        <a:t>0.851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0.673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0.804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0.794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1.1 s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bg1"/>
                          </a:solidFill>
                        </a:rPr>
                        <a:t>80 MB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Gemma (3 27B)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0.764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0.482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0.692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0.674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23.5 s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216 MB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73239" y="4937737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2E86C1"/>
                </a:solidFill>
              </a:rPr>
              <a:t>Claude &amp; Llama tie at 85.1% — identical cluster assignments
despite completely different mechanisms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5465625-72BB-A7A4-4C40-8BB83017E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15688"/>
              </p:ext>
            </p:extLst>
          </p:nvPr>
        </p:nvGraphicFramePr>
        <p:xfrm>
          <a:off x="228600" y="934381"/>
          <a:ext cx="11731752" cy="1305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881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Claude (Haiku 4.5)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Llama (3.1 70B)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Gemma (3 27B)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81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Zero-Shot Approach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LLM API call via Bedrock
(biological reasoning)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52F"/>
                          </a:solidFill>
                        </a:rPr>
                        <a:t>Avg marker gene expression
per cluster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52F"/>
                          </a:solidFill>
                        </a:rPr>
                        <a:t>Sum marker gene expression
per cell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81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Zero-Shot Granularity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Cluster-level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Cluster-level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  <a:highlight>
                            <a:srgbClr val="FFFF00"/>
                          </a:highlight>
                        </a:rPr>
                        <a:t>Per-cell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 Mapping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Annotate by comparing against a large, pre-labelled cell atlas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873248"/>
            <a:ext cx="5303520" cy="3683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480024"/>
              </p:ext>
            </p:extLst>
          </p:nvPr>
        </p:nvGraphicFramePr>
        <p:xfrm>
          <a:off x="6168813" y="34290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Wtd F1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Kappa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Mem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Claude (CellTypist)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0.889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0.776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0.863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0.847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1.5 s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255 MB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Llama (dot-product)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0.732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0.502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0.710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0.650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0.3 s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35 MB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Gemma (Scanorama+KNN)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0.770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0.564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0.760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</a:rPr>
                        <a:t>0.697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chemeClr val="bg1"/>
                          </a:solidFill>
                        </a:rPr>
                        <a:t>1.4 s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chemeClr val="bg1"/>
                          </a:solidFill>
                        </a:rPr>
                        <a:t>77 MB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68813" y="5440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 err="1">
                <a:solidFill>
                  <a:srgbClr val="2E86C1"/>
                </a:solidFill>
              </a:rPr>
              <a:t>CellTypist</a:t>
            </a:r>
            <a:r>
              <a:rPr sz="1100" b="1" i="1" dirty="0">
                <a:solidFill>
                  <a:srgbClr val="2E86C1"/>
                </a:solidFill>
              </a:rPr>
              <a:t> (Claude) wins by +12-16 pp
by choosing a pre-trained 700k-cell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99A1C76-3977-F799-AE18-CF0CB7FFB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412876"/>
              </p:ext>
            </p:extLst>
          </p:nvPr>
        </p:nvGraphicFramePr>
        <p:xfrm>
          <a:off x="228600" y="868680"/>
          <a:ext cx="11731752" cy="142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9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773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Claude (Haiku 4.5)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Llama (3.1 70B)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Gemma (3 27B)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Reference Method</a:t>
                      </a:r>
                    </a:p>
                  </a:txBody>
                  <a:tcPr>
                    <a:solidFill>
                      <a:srgbClr val="D5D8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A252F"/>
                          </a:solidFill>
                        </a:rPr>
                        <a:t>CellTypist</a:t>
                      </a:r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
(logistic regression)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Centroid dot-product
similarity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A252F"/>
                          </a:solidFill>
                        </a:rPr>
                        <a:t>Scanorama</a:t>
                      </a:r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 integration
+ KNN label transfer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773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Reference Dataset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A252F"/>
                          </a:solidFill>
                        </a:rPr>
                        <a:t>Immune_All_High</a:t>
                      </a:r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
(700k cells, 20+ studies)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pbmc68k_reduced
(</a:t>
                      </a:r>
                      <a:r>
                        <a:rPr sz="1400" b="0" dirty="0">
                          <a:solidFill>
                            <a:srgbClr val="1A252F"/>
                          </a:solidFill>
                          <a:highlight>
                            <a:srgbClr val="FFFF00"/>
                          </a:highlight>
                        </a:rPr>
                        <a:t>700 cells</a:t>
                      </a:r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, 10x)</a:t>
                      </a:r>
                    </a:p>
                  </a:txBody>
                  <a:tcPr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pbmc68k_reduced
(</a:t>
                      </a:r>
                      <a:r>
                        <a:rPr sz="1400" b="0" dirty="0">
                          <a:solidFill>
                            <a:srgbClr val="1A252F"/>
                          </a:solidFill>
                          <a:highlight>
                            <a:srgbClr val="FFFF00"/>
                          </a:highlight>
                        </a:rPr>
                        <a:t>700 cells</a:t>
                      </a:r>
                      <a:r>
                        <a:rPr sz="1400" b="0" dirty="0">
                          <a:solidFill>
                            <a:srgbClr val="1A252F"/>
                          </a:solidFill>
                        </a:rPr>
                        <a:t>, 10x)</a:t>
                      </a:r>
                    </a:p>
                  </a:txBody>
                  <a:tcPr>
                    <a:solidFill>
                      <a:srgbClr val="EA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Per-Class F1 Score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Which cell types does each method handle well — and which does it miss?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C0392B"/>
                </a:solidFill>
              </a:rPr>
              <a:t>Red zone (F1≈0): FCGR3A Mono undetected by all — merged with CD14 Mono in the same Leiden 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5/8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UMAP Visualisations — Claude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Ground Truth (left)  |  Zero-Shot LLM (centre)  |  CellTypist Reference Mapping (right)</a:t>
            </a:r>
          </a:p>
        </p:txBody>
      </p:sp>
      <p:pic>
        <p:nvPicPr>
          <p:cNvPr id="5" name="Picture 4" descr="umap_three_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1179576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" y="6611112"/>
            <a:ext cx="12006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ED6F1"/>
                </a:solidFill>
              </a:rPr>
              <a:t>PBMC Cell-Type Annotation: LLM Pipeline Comparison  |  Scripps Research Hackathon 2026  |  6/8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174E3AD-4233-3BB8-DA53-85EC41D5E9F1}"/>
              </a:ext>
            </a:extLst>
          </p:cNvPr>
          <p:cNvSpPr/>
          <p:nvPr/>
        </p:nvSpPr>
        <p:spPr>
          <a:xfrm>
            <a:off x="4394200" y="3606800"/>
            <a:ext cx="846667" cy="85513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57B438-1E77-0D1F-BA42-EAACC28A9CE3}"/>
              </a:ext>
            </a:extLst>
          </p:cNvPr>
          <p:cNvSpPr/>
          <p:nvPr/>
        </p:nvSpPr>
        <p:spPr>
          <a:xfrm>
            <a:off x="6392334" y="5029200"/>
            <a:ext cx="846667" cy="85513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Resource Usage: Time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475488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Wall-clock time and peak memory for each annotation step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1430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D6D7E"/>
                </a:solidFill>
              </a:rPr>
              <a:t>Lighter = Zero-Shot   |   Solid = Reference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6B2DC-E251-3403-BAAD-C12DE3319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6EAE8-FB28-6931-77A5-1F0B4E4976BB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033E4-9F3D-A851-9116-7BEE03E47CA0}"/>
              </a:ext>
            </a:extLst>
          </p:cNvPr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</a:rPr>
              <a:t>Summary: Effects of LLMs on 2 methods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88810-1EFB-2E95-B790-59CBCB6C133C}"/>
              </a:ext>
            </a:extLst>
          </p:cNvPr>
          <p:cNvSpPr/>
          <p:nvPr/>
        </p:nvSpPr>
        <p:spPr>
          <a:xfrm>
            <a:off x="228600" y="3681448"/>
            <a:ext cx="11731752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E1CBD-0E75-870C-C7BF-6CABEA910542}"/>
              </a:ext>
            </a:extLst>
          </p:cNvPr>
          <p:cNvSpPr txBox="1"/>
          <p:nvPr/>
        </p:nvSpPr>
        <p:spPr>
          <a:xfrm>
            <a:off x="320040" y="3718024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[1] </a:t>
            </a:r>
            <a:r>
              <a:rPr lang="en-US" sz="1600" b="1" dirty="0">
                <a:solidFill>
                  <a:srgbClr val="FFFFFF"/>
                </a:solidFill>
              </a:rPr>
              <a:t>For zero-shot mapping: great improvement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29B76-B96D-9E00-D31F-3E71A826641C}"/>
              </a:ext>
            </a:extLst>
          </p:cNvPr>
          <p:cNvSpPr txBox="1"/>
          <p:nvPr/>
        </p:nvSpPr>
        <p:spPr>
          <a:xfrm>
            <a:off x="365760" y="4482056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when following correct pipeline, </a:t>
            </a:r>
            <a:r>
              <a:rPr lang="en-US" sz="1400" dirty="0">
                <a:solidFill>
                  <a:srgbClr val="1A252F"/>
                </a:solidFill>
              </a:rPr>
              <a:t>LLM tends to give okay results consistently</a:t>
            </a:r>
            <a:r>
              <a:rPr lang="en-US" sz="1400" b="0" i="0" dirty="0">
                <a:solidFill>
                  <a:srgbClr val="1A252F"/>
                </a:solidFill>
              </a:rPr>
              <a:t> 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1A551-A60C-8B5C-2B1A-BEF4EC431A4C}"/>
              </a:ext>
            </a:extLst>
          </p:cNvPr>
          <p:cNvSpPr txBox="1"/>
          <p:nvPr/>
        </p:nvSpPr>
        <p:spPr>
          <a:xfrm>
            <a:off x="365760" y="4159625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LLMs extremely accelerate annotation process 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F6EF91-29F7-4753-868B-96F5B401A23F}"/>
              </a:ext>
            </a:extLst>
          </p:cNvPr>
          <p:cNvSpPr txBox="1"/>
          <p:nvPr/>
        </p:nvSpPr>
        <p:spPr>
          <a:xfrm>
            <a:off x="320040" y="50135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[2] SHARED LIMITATIONS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3336D-7BC5-3061-FB75-9BA7E298C92F}"/>
              </a:ext>
            </a:extLst>
          </p:cNvPr>
          <p:cNvSpPr/>
          <p:nvPr/>
        </p:nvSpPr>
        <p:spPr>
          <a:xfrm>
            <a:off x="228600" y="4937718"/>
            <a:ext cx="11731752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9F782C-64D0-307D-7AC6-367F9CE1E81E}"/>
              </a:ext>
            </a:extLst>
          </p:cNvPr>
          <p:cNvSpPr txBox="1"/>
          <p:nvPr/>
        </p:nvSpPr>
        <p:spPr>
          <a:xfrm>
            <a:off x="320040" y="4974294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[</a:t>
            </a:r>
            <a:r>
              <a:rPr lang="en-US" sz="1600" b="1" i="0" dirty="0">
                <a:solidFill>
                  <a:srgbClr val="FFFFFF"/>
                </a:solidFill>
              </a:rPr>
              <a:t>2</a:t>
            </a:r>
            <a:r>
              <a:rPr sz="1600" b="1" i="0" dirty="0">
                <a:solidFill>
                  <a:srgbClr val="FFFFFF"/>
                </a:solidFill>
              </a:rPr>
              <a:t>] </a:t>
            </a:r>
            <a:r>
              <a:rPr lang="en-US" sz="1600" b="1" i="0" dirty="0">
                <a:solidFill>
                  <a:srgbClr val="FFFFFF"/>
                </a:solidFill>
              </a:rPr>
              <a:t>For reference mapping: marginal support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26D246-C9BB-2B78-6A71-FF943335E751}"/>
              </a:ext>
            </a:extLst>
          </p:cNvPr>
          <p:cNvSpPr txBox="1"/>
          <p:nvPr/>
        </p:nvSpPr>
        <p:spPr>
          <a:xfrm>
            <a:off x="365760" y="5340054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For different LLM, we observe large variety in tool and reference selections, and some are bad.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EAF99E-918A-B342-87FD-714B6833CFC8}"/>
              </a:ext>
            </a:extLst>
          </p:cNvPr>
          <p:cNvSpPr txBox="1"/>
          <p:nvPr/>
        </p:nvSpPr>
        <p:spPr>
          <a:xfrm>
            <a:off x="365760" y="6070445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Suggested practice: specify tool and reference and ask LLM to build a pipeline.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D1929B-E1D9-7AA6-74B8-A1F88B04AAE9}"/>
              </a:ext>
            </a:extLst>
          </p:cNvPr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06694FD8-6A8E-ABB4-D0DA-51DC65989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33" y="851737"/>
            <a:ext cx="3571367" cy="2480116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BA7E7EA3-8D5D-175D-0985-38B6B2A28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0" y="887635"/>
            <a:ext cx="3571367" cy="24801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0681BCD-0A04-B4A6-36F0-571C35D3D8D4}"/>
              </a:ext>
            </a:extLst>
          </p:cNvPr>
          <p:cNvSpPr txBox="1"/>
          <p:nvPr/>
        </p:nvSpPr>
        <p:spPr>
          <a:xfrm>
            <a:off x="365760" y="5707937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1A252F"/>
                </a:solidFill>
              </a:rPr>
              <a:t>•   while picking the right tool and reference, it can give good results, better than zero-shot.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54880B-9294-0DBA-15BE-BF63EBE440C8}"/>
              </a:ext>
            </a:extLst>
          </p:cNvPr>
          <p:cNvSpPr txBox="1"/>
          <p:nvPr/>
        </p:nvSpPr>
        <p:spPr>
          <a:xfrm>
            <a:off x="1363134" y="863343"/>
            <a:ext cx="10831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Zero-shot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82C48-8665-1CAD-CA05-C1622CAB4D31}"/>
              </a:ext>
            </a:extLst>
          </p:cNvPr>
          <p:cNvSpPr txBox="1"/>
          <p:nvPr/>
        </p:nvSpPr>
        <p:spPr>
          <a:xfrm>
            <a:off x="6451600" y="868413"/>
            <a:ext cx="89037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refence</a:t>
            </a:r>
          </a:p>
        </p:txBody>
      </p:sp>
    </p:spTree>
    <p:extLst>
      <p:ext uri="{BB962C8B-B14F-4D97-AF65-F5344CB8AC3E}">
        <p14:creationId xmlns:p14="http://schemas.microsoft.com/office/powerpoint/2010/main" val="3279638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Summary: Effects of LLMs on 2 methods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3681448"/>
            <a:ext cx="11731752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5013579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[2] SHARED LIMITATIONS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937718"/>
            <a:ext cx="11731752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4974294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FFFFFF"/>
                </a:solidFill>
              </a:rPr>
              <a:t>[</a:t>
            </a:r>
            <a:r>
              <a:rPr lang="en-US" sz="1600" b="1" i="0" dirty="0">
                <a:solidFill>
                  <a:srgbClr val="FFFFFF"/>
                </a:solidFill>
              </a:rPr>
              <a:t>2</a:t>
            </a:r>
            <a:r>
              <a:rPr sz="1600" b="1" i="0" dirty="0">
                <a:solidFill>
                  <a:srgbClr val="FFFFFF"/>
                </a:solidFill>
              </a:rPr>
              <a:t>] </a:t>
            </a:r>
            <a:r>
              <a:rPr lang="en-US" sz="1600" b="1" i="0" dirty="0">
                <a:solidFill>
                  <a:srgbClr val="FFFFFF"/>
                </a:solidFill>
              </a:rPr>
              <a:t>For </a:t>
            </a:r>
            <a:r>
              <a:rPr lang="en-US" sz="1600" b="1" dirty="0">
                <a:solidFill>
                  <a:srgbClr val="FFFFFF"/>
                </a:solidFill>
              </a:rPr>
              <a:t>reference mapping: marginal support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5340054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For different LLM, we observe large variety in tool and reference selections, and some are bad.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6070445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Suggested practice: specify tool and reference and ask LLM to build a pipeline.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CC034B3C-6C7D-5A9B-D3AA-F9CA56F4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33" y="851737"/>
            <a:ext cx="3571367" cy="2480116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F831D7DA-645B-28F3-759C-59D362272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0" y="887635"/>
            <a:ext cx="3571367" cy="24801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87EA8D3-5DD3-6454-9A42-5FA1060FBFEB}"/>
              </a:ext>
            </a:extLst>
          </p:cNvPr>
          <p:cNvSpPr txBox="1"/>
          <p:nvPr/>
        </p:nvSpPr>
        <p:spPr>
          <a:xfrm>
            <a:off x="365760" y="5707937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1A252F"/>
                </a:solidFill>
              </a:rPr>
              <a:t>•   while picking the right tool and reference, it can give good results, better than zero-shot.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EE25C-9028-9AE5-70D6-1DAE2B716288}"/>
              </a:ext>
            </a:extLst>
          </p:cNvPr>
          <p:cNvSpPr txBox="1"/>
          <p:nvPr/>
        </p:nvSpPr>
        <p:spPr>
          <a:xfrm>
            <a:off x="1363134" y="863343"/>
            <a:ext cx="108318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Zero-shot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9BC00-02A9-DFEF-15D1-E46FADB79968}"/>
              </a:ext>
            </a:extLst>
          </p:cNvPr>
          <p:cNvSpPr txBox="1"/>
          <p:nvPr/>
        </p:nvSpPr>
        <p:spPr>
          <a:xfrm>
            <a:off x="6451600" y="868413"/>
            <a:ext cx="89037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refence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345D7B-7A13-7A80-7383-5D773C04DFD0}"/>
              </a:ext>
            </a:extLst>
          </p:cNvPr>
          <p:cNvSpPr txBox="1"/>
          <p:nvPr/>
        </p:nvSpPr>
        <p:spPr>
          <a:xfrm>
            <a:off x="320040" y="3718024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[1] </a:t>
            </a:r>
            <a:r>
              <a:rPr lang="en-US" sz="1600" b="1" dirty="0">
                <a:solidFill>
                  <a:srgbClr val="FFFFFF"/>
                </a:solidFill>
              </a:rPr>
              <a:t>For zero-shot mapping: great improvement 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8858B6-50DA-856B-4140-B38D171487F6}"/>
              </a:ext>
            </a:extLst>
          </p:cNvPr>
          <p:cNvSpPr txBox="1"/>
          <p:nvPr/>
        </p:nvSpPr>
        <p:spPr>
          <a:xfrm>
            <a:off x="365760" y="4482056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when following correct pipeline, </a:t>
            </a:r>
            <a:r>
              <a:rPr lang="en-US" sz="1400" dirty="0">
                <a:solidFill>
                  <a:srgbClr val="1A252F"/>
                </a:solidFill>
              </a:rPr>
              <a:t>LLM tends to give okay results consistently</a:t>
            </a:r>
            <a:r>
              <a:rPr lang="en-US" sz="1400" b="0" i="0" dirty="0">
                <a:solidFill>
                  <a:srgbClr val="1A252F"/>
                </a:solidFill>
              </a:rPr>
              <a:t> 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4A6324-8251-29C0-9CF0-CBE80B499323}"/>
              </a:ext>
            </a:extLst>
          </p:cNvPr>
          <p:cNvSpPr txBox="1"/>
          <p:nvPr/>
        </p:nvSpPr>
        <p:spPr>
          <a:xfrm>
            <a:off x="365760" y="4159625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52F"/>
                </a:solidFill>
              </a:rPr>
              <a:t>•   </a:t>
            </a:r>
            <a:r>
              <a:rPr lang="en-US" sz="1400" b="0" i="0" dirty="0">
                <a:solidFill>
                  <a:srgbClr val="1A252F"/>
                </a:solidFill>
              </a:rPr>
              <a:t>LLMs extremely accelerate annotation process </a:t>
            </a:r>
            <a:endParaRPr sz="1400" b="0" i="0" dirty="0">
              <a:solidFill>
                <a:srgbClr val="1A252F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59873C-8FBC-10DD-A863-99CD1DC5FF20}"/>
              </a:ext>
            </a:extLst>
          </p:cNvPr>
          <p:cNvSpPr txBox="1"/>
          <p:nvPr/>
        </p:nvSpPr>
        <p:spPr>
          <a:xfrm>
            <a:off x="3897007" y="3421105"/>
            <a:ext cx="716288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Next question: </a:t>
            </a:r>
          </a:p>
          <a:p>
            <a:r>
              <a:rPr lang="en-US" dirty="0"/>
              <a:t>- how much does zero-shot mapping depend on agents while giving more specific prompt? </a:t>
            </a:r>
          </a:p>
          <a:p>
            <a:r>
              <a:rPr lang="en-US" dirty="0"/>
              <a:t>- Will more advanced LLM model give better results than reference mapping?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599" b="1" dirty="0">
                <a:solidFill>
                  <a:srgbClr val="FFFFFF"/>
                </a:solidFill>
                <a:latin typeface="Calibri"/>
              </a:rPr>
              <a:t>Zero-shot annotation--agents and strategy comparison</a:t>
            </a:r>
            <a:endParaRPr sz="2599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9913" y="1600677"/>
            <a:ext cx="6764798" cy="313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99" b="1" dirty="0">
                <a:solidFill>
                  <a:srgbClr val="123A5E"/>
                </a:solidFill>
                <a:latin typeface="Calibri"/>
              </a:rPr>
              <a:t>Question:  </a:t>
            </a:r>
            <a:r>
              <a:rPr sz="1799" dirty="0">
                <a:solidFill>
                  <a:srgbClr val="222A33"/>
                </a:solidFill>
                <a:latin typeface="Calibri"/>
              </a:rPr>
              <a:t>can an LLM reading a cluster's top marker genes match an established reference-transfer tool </a:t>
            </a:r>
            <a:r>
              <a:rPr lang="en-US" sz="1799" dirty="0">
                <a:solidFill>
                  <a:srgbClr val="222A33"/>
                </a:solidFill>
                <a:latin typeface="Calibri"/>
              </a:rPr>
              <a:t>or even better</a:t>
            </a:r>
            <a:r>
              <a:rPr sz="1799" dirty="0">
                <a:solidFill>
                  <a:srgbClr val="222A33"/>
                </a:solidFill>
                <a:latin typeface="Calibri"/>
              </a:rPr>
              <a:t>— and does context help?</a:t>
            </a:r>
          </a:p>
          <a:p>
            <a:pPr>
              <a:spcAft>
                <a:spcPts val="600"/>
              </a:spcAft>
            </a:pPr>
            <a:r>
              <a:rPr sz="1799" b="1" dirty="0">
                <a:solidFill>
                  <a:srgbClr val="123A5E"/>
                </a:solidFill>
                <a:latin typeface="Calibri"/>
              </a:rPr>
              <a:t>Three strategies compared: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2C7FB8"/>
                </a:solidFill>
                <a:latin typeface="Calibri"/>
              </a:rPr>
              <a:t>•  1) LLM + context</a:t>
            </a:r>
            <a:r>
              <a:rPr sz="1600" dirty="0">
                <a:solidFill>
                  <a:srgbClr val="222A33"/>
                </a:solidFill>
                <a:latin typeface="Calibri"/>
              </a:rPr>
              <a:t>  — tissue + experimental design + retrieved PubMed abstracts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3A9B8F"/>
                </a:solidFill>
                <a:latin typeface="Calibri"/>
              </a:rPr>
              <a:t>•  2) LLM agnostic</a:t>
            </a:r>
            <a:r>
              <a:rPr sz="1600" dirty="0">
                <a:solidFill>
                  <a:srgbClr val="222A33"/>
                </a:solidFill>
                <a:latin typeface="Calibri"/>
              </a:rPr>
              <a:t>  — marker genes only, no context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D95F0E"/>
                </a:solidFill>
                <a:latin typeface="Calibri"/>
              </a:rPr>
              <a:t>•  3) </a:t>
            </a:r>
            <a:r>
              <a:rPr sz="1600" b="1" dirty="0" err="1">
                <a:solidFill>
                  <a:srgbClr val="D95F0E"/>
                </a:solidFill>
                <a:latin typeface="Calibri"/>
              </a:rPr>
              <a:t>CellTypist</a:t>
            </a:r>
            <a:r>
              <a:rPr sz="1600" dirty="0">
                <a:solidFill>
                  <a:srgbClr val="222A33"/>
                </a:solidFill>
                <a:latin typeface="Calibri"/>
              </a:rPr>
              <a:t>  — pre-trained reference label transfer</a:t>
            </a:r>
          </a:p>
          <a:p>
            <a:r>
              <a:rPr sz="1600" dirty="0">
                <a:solidFill>
                  <a:srgbClr val="66707A"/>
                </a:solidFill>
                <a:latin typeface="Calibri"/>
              </a:rPr>
              <a:t>Benchmarked vs. ground truth on PBMC + pancreas; measured accuracy, runtime, and peak memory.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Built with Claude Code — from one prompt to a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913" y="1600676"/>
            <a:ext cx="6764798" cy="33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23A5E"/>
                </a:solidFill>
                <a:latin typeface="Calibri"/>
              </a:rPr>
              <a:t>The initial prompt (verbatim, abridged):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913" y="2194881"/>
            <a:ext cx="10878526" cy="369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799"/>
          </a:p>
        </p:txBody>
      </p:sp>
      <p:sp>
        <p:nvSpPr>
          <p:cNvPr id="7" name="Rectangle 6"/>
          <p:cNvSpPr/>
          <p:nvPr/>
        </p:nvSpPr>
        <p:spPr>
          <a:xfrm>
            <a:off x="548496" y="2103465"/>
            <a:ext cx="11061359" cy="2193989"/>
          </a:xfrm>
          <a:prstGeom prst="rect">
            <a:avLst/>
          </a:prstGeom>
          <a:solidFill>
            <a:srgbClr val="F2F5F8"/>
          </a:solidFill>
          <a:ln w="19050">
            <a:solidFill>
              <a:srgbClr val="2C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249" tIns="182832" rIns="274249" rtlCol="0" anchor="ctr"/>
          <a:lstStyle/>
          <a:p>
            <a:pPr>
              <a:spcAft>
                <a:spcPts val="600"/>
              </a:spcAft>
            </a:pPr>
            <a:r>
              <a:rPr sz="1600" dirty="0">
                <a:solidFill>
                  <a:srgbClr val="222A33"/>
                </a:solidFill>
                <a:latin typeface="Calibri"/>
              </a:rPr>
              <a:t>“Generate a tool to perform cell-type annotation in single-cell sequencing. Compare (1) zero-shot annotation from top marker genes interpreted by Claude, specifying tissue &amp; experimental design, leveraging published manuscripts; (2) the same but agnostic of design — vs. </a:t>
            </a:r>
            <a:r>
              <a:rPr lang="en-US" sz="1600" dirty="0">
                <a:solidFill>
                  <a:srgbClr val="222A33"/>
                </a:solidFill>
                <a:latin typeface="Calibri"/>
              </a:rPr>
              <a:t>(3) </a:t>
            </a:r>
            <a:r>
              <a:rPr sz="1600" dirty="0">
                <a:solidFill>
                  <a:srgbClr val="222A33"/>
                </a:solidFill>
                <a:latin typeface="Calibri"/>
              </a:rPr>
              <a:t>reference label transfer using </a:t>
            </a:r>
            <a:r>
              <a:rPr sz="1600" dirty="0" err="1">
                <a:solidFill>
                  <a:srgbClr val="222A33"/>
                </a:solidFill>
                <a:latin typeface="Calibri"/>
              </a:rPr>
              <a:t>CellTypist</a:t>
            </a:r>
            <a:r>
              <a:rPr sz="1600" dirty="0">
                <a:solidFill>
                  <a:srgbClr val="222A33"/>
                </a:solidFill>
                <a:latin typeface="Calibri"/>
              </a:rPr>
              <a:t> with an appropriate model. Benchmark against ground truth using the Seurat PBMC dataset. Also report time and memory. … This should run locally.”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913" y="4571703"/>
            <a:ext cx="108785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123A5E"/>
                </a:solidFill>
                <a:latin typeface="Calibri"/>
              </a:rPr>
              <a:t>Follow-up </a:t>
            </a:r>
            <a:r>
              <a:rPr sz="1600" b="1" dirty="0">
                <a:solidFill>
                  <a:srgbClr val="123A5E"/>
                </a:solidFill>
                <a:latin typeface="Calibri"/>
              </a:rPr>
              <a:t>questions — my answers shaped the build: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222A33"/>
                </a:solidFill>
                <a:latin typeface="Calibri"/>
              </a:rPr>
              <a:t>•  LLM access  →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AWS Bedrock Converse API, comparing multiple providers</a:t>
            </a: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222A33"/>
                </a:solidFill>
                <a:latin typeface="Calibri"/>
              </a:rPr>
              <a:t>•  literature  →  </a:t>
            </a:r>
            <a:r>
              <a:rPr sz="1500" dirty="0">
                <a:solidFill>
                  <a:srgbClr val="222A33"/>
                </a:solidFill>
                <a:latin typeface="Calibri"/>
              </a:rPr>
              <a:t>retrieve real abstracts from PubMed (NCBI E-utilities)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Tool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780" y="1143596"/>
            <a:ext cx="4261467" cy="3076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FB8"/>
                </a:solidFill>
                <a:latin typeface="Calibri"/>
              </a:rPr>
              <a:t>Config-driven · runs locally (128 GB / 16 cores, no GPU)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913" y="1600676"/>
            <a:ext cx="6764798" cy="369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799"/>
          </a:p>
        </p:txBody>
      </p:sp>
      <p:sp>
        <p:nvSpPr>
          <p:cNvPr id="6" name="Rectangle 5"/>
          <p:cNvSpPr/>
          <p:nvPr/>
        </p:nvSpPr>
        <p:spPr>
          <a:xfrm>
            <a:off x="639913" y="1737800"/>
            <a:ext cx="10878526" cy="749613"/>
          </a:xfrm>
          <a:prstGeom prst="rect">
            <a:avLst/>
          </a:prstGeom>
          <a:solidFill>
            <a:srgbClr val="2C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540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scanpy pipeline   </a:t>
            </a:r>
            <a:r>
              <a:rPr sz="1600">
                <a:solidFill>
                  <a:srgbClr val="ECF3F9"/>
                </a:solidFill>
                <a:latin typeface="Calibri"/>
              </a:rPr>
              <a:t>— QC → CP10k+log1p → Leiden clustering → top-25 markers/cluster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9913" y="2670246"/>
            <a:ext cx="10878526" cy="749613"/>
          </a:xfrm>
          <a:prstGeom prst="rect">
            <a:avLst/>
          </a:prstGeom>
          <a:solidFill>
            <a:srgbClr val="3A9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540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3 annotation methods   </a:t>
            </a:r>
            <a:r>
              <a:rPr sz="1600">
                <a:solidFill>
                  <a:srgbClr val="ECF3F9"/>
                </a:solidFill>
                <a:latin typeface="Calibri"/>
              </a:rPr>
              <a:t>— LLM+context (PubMed) · LLM agnostic · CellTypist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9913" y="3602691"/>
            <a:ext cx="10878526" cy="749613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540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LLM-judge harmonization   </a:t>
            </a:r>
            <a:r>
              <a:rPr sz="1600">
                <a:solidFill>
                  <a:srgbClr val="ECF3F9"/>
                </a:solidFill>
                <a:latin typeface="Calibri"/>
              </a:rPr>
              <a:t>— free-text labels → canonical ground-truth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9913" y="4535136"/>
            <a:ext cx="10878526" cy="749613"/>
          </a:xfrm>
          <a:prstGeom prst="rect">
            <a:avLst/>
          </a:prstGeom>
          <a:solidFill>
            <a:srgbClr val="D95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540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evaluation + profiling   </a:t>
            </a:r>
            <a:r>
              <a:rPr sz="1600">
                <a:solidFill>
                  <a:srgbClr val="ECF3F9"/>
                </a:solidFill>
                <a:latin typeface="Calibri"/>
              </a:rPr>
              <a:t>— accuracy, balanced-acc, macro-F1, κ, ARI + time/peak-RSS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9913" y="5467581"/>
            <a:ext cx="10878526" cy="749613"/>
          </a:xfrm>
          <a:prstGeom prst="rect">
            <a:avLst/>
          </a:prstGeom>
          <a:solidFill>
            <a:srgbClr val="667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540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report   </a:t>
            </a:r>
            <a:r>
              <a:rPr sz="1600">
                <a:solidFill>
                  <a:srgbClr val="ECF3F9"/>
                </a:solidFill>
                <a:latin typeface="Calibri"/>
              </a:rPr>
              <a:t>— markdown + accuracy/cost charts + confusion matrices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Choices &amp; fixes along the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780" y="1143596"/>
            <a:ext cx="2120734" cy="3076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FB8"/>
                </a:solidFill>
                <a:latin typeface="Calibri"/>
              </a:rPr>
              <a:t>Human + Claude, iterating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913" y="1600676"/>
            <a:ext cx="6764798" cy="339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99" b="1">
                <a:solidFill>
                  <a:srgbClr val="D95F0E"/>
                </a:solidFill>
                <a:latin typeface="Calibri"/>
              </a:rPr>
              <a:t>Multi-model roster reality-check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22A33"/>
                </a:solidFill>
                <a:latin typeface="Calibri"/>
              </a:rPr>
              <a:t>Opus 4.8 returned AccessDenied despite being listed → pruned it; report now surfaces per-model API errors.</a:t>
            </a:r>
          </a:p>
          <a:p>
            <a:pPr>
              <a:spcAft>
                <a:spcPts val="200"/>
              </a:spcAft>
            </a:pPr>
            <a:r>
              <a:rPr sz="1799" b="1">
                <a:solidFill>
                  <a:srgbClr val="2C7FB8"/>
                </a:solidFill>
                <a:latin typeface="Calibri"/>
              </a:rPr>
              <a:t>No data leakage for CellTypist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22A33"/>
                </a:solidFill>
                <a:latin typeface="Calibri"/>
              </a:rPr>
              <a:t>Initial fallback trained on a 50% split of the eval data (inflated to 0.97). Removed → pre-trained models only.</a:t>
            </a:r>
          </a:p>
          <a:p>
            <a:pPr>
              <a:spcAft>
                <a:spcPts val="200"/>
              </a:spcAft>
            </a:pPr>
            <a:r>
              <a:rPr sz="1799" b="1">
                <a:solidFill>
                  <a:srgbClr val="3A9B8F"/>
                </a:solidFill>
                <a:latin typeface="Calibri"/>
              </a:rPr>
              <a:t>Granularity matching matters most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222A33"/>
                </a:solidFill>
                <a:latin typeface="Calibri"/>
              </a:rPr>
              <a:t>PBMC CellTypist scored 0.33 with the coarse Immune_All_High model — it called 61% of cells “T cells” (vs CD4/CD8/NK ground truth). Switched to fine Immune_All_Low → 0.85.</a:t>
            </a:r>
          </a:p>
          <a:p>
            <a:r>
              <a:rPr sz="1600" b="1">
                <a:solidFill>
                  <a:srgbClr val="123A5E"/>
                </a:solidFill>
                <a:latin typeface="Calibri"/>
              </a:rPr>
              <a:t>Two datasets · 3 methods · 4 LLMs · full evaluation — one session.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Results — PBMC (2,638 cells, 8 fine immune types)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780" y="1143596"/>
            <a:ext cx="4174095" cy="3076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FB8"/>
                </a:solidFill>
                <a:latin typeface="Calibri"/>
              </a:rPr>
              <a:t>CellTypist (fine model) and LLM+context tie at the 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913" y="1600677"/>
            <a:ext cx="6764798" cy="73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99" b="1" dirty="0">
                <a:solidFill>
                  <a:srgbClr val="2C7FB8"/>
                </a:solidFill>
                <a:latin typeface="Calibri"/>
              </a:rPr>
              <a:t>0.85  </a:t>
            </a:r>
            <a:r>
              <a:rPr sz="1699" dirty="0" err="1">
                <a:solidFill>
                  <a:srgbClr val="222A33"/>
                </a:solidFill>
                <a:latin typeface="Calibri"/>
              </a:rPr>
              <a:t>CellTypist</a:t>
            </a:r>
            <a:r>
              <a:rPr sz="1699" dirty="0">
                <a:solidFill>
                  <a:srgbClr val="222A33"/>
                </a:solidFill>
                <a:latin typeface="Calibri"/>
              </a:rPr>
              <a:t> (</a:t>
            </a:r>
            <a:r>
              <a:rPr sz="1699" dirty="0" err="1">
                <a:solidFill>
                  <a:srgbClr val="222A33"/>
                </a:solidFill>
                <a:latin typeface="Calibri"/>
              </a:rPr>
              <a:t>Immune_All_Low</a:t>
            </a:r>
            <a:r>
              <a:rPr sz="1699" dirty="0">
                <a:solidFill>
                  <a:srgbClr val="222A33"/>
                </a:solidFill>
                <a:latin typeface="Calibri"/>
              </a:rPr>
              <a:t>)  </a:t>
            </a:r>
            <a:r>
              <a:rPr sz="1699" b="1" dirty="0">
                <a:solidFill>
                  <a:srgbClr val="66707A"/>
                </a:solidFill>
                <a:latin typeface="Calibri"/>
              </a:rPr>
              <a:t>≈  </a:t>
            </a:r>
            <a:r>
              <a:rPr sz="1699" b="1" dirty="0">
                <a:solidFill>
                  <a:srgbClr val="2C7FB8"/>
                </a:solidFill>
                <a:latin typeface="Calibri"/>
              </a:rPr>
              <a:t>0.85  </a:t>
            </a:r>
            <a:r>
              <a:rPr sz="1699" dirty="0" err="1">
                <a:solidFill>
                  <a:srgbClr val="222A33"/>
                </a:solidFill>
                <a:latin typeface="Calibri"/>
              </a:rPr>
              <a:t>LLM+context</a:t>
            </a:r>
            <a:r>
              <a:rPr sz="1699" dirty="0">
                <a:solidFill>
                  <a:srgbClr val="222A33"/>
                </a:solidFill>
                <a:latin typeface="Calibri"/>
              </a:rPr>
              <a:t> (Sonnet 4.6)</a:t>
            </a:r>
          </a:p>
          <a:p>
            <a:r>
              <a:rPr sz="1500" b="1" dirty="0">
                <a:solidFill>
                  <a:srgbClr val="D95F0E"/>
                </a:solidFill>
                <a:latin typeface="Calibri"/>
              </a:rPr>
              <a:t>Context lifts Sonnet from 0.60 → 0.85 on PBMC.</a:t>
            </a:r>
          </a:p>
        </p:txBody>
      </p:sp>
      <p:pic>
        <p:nvPicPr>
          <p:cNvPr id="6" name="Picture 5" descr="pbmc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774" y="2362542"/>
            <a:ext cx="6836877" cy="4312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0800EC-F3B9-072A-5592-6672FE20BC0C}"/>
              </a:ext>
            </a:extLst>
          </p:cNvPr>
          <p:cNvSpPr txBox="1"/>
          <p:nvPr/>
        </p:nvSpPr>
        <p:spPr>
          <a:xfrm>
            <a:off x="237067" y="3429000"/>
            <a:ext cx="165494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ctx</a:t>
            </a:r>
            <a:r>
              <a:rPr lang="en-US" dirty="0"/>
              <a:t>: use context</a:t>
            </a:r>
          </a:p>
          <a:p>
            <a:r>
              <a:rPr lang="en-US" dirty="0" err="1"/>
              <a:t>agn</a:t>
            </a:r>
            <a:r>
              <a:rPr lang="en-US" dirty="0"/>
              <a:t>: no context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6856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Rectangle 2"/>
          <p:cNvSpPr/>
          <p:nvPr/>
        </p:nvSpPr>
        <p:spPr>
          <a:xfrm>
            <a:off x="0" y="893"/>
            <a:ext cx="12188520" cy="164549"/>
          </a:xfrm>
          <a:prstGeom prst="rect">
            <a:avLst/>
          </a:prstGeom>
          <a:solidFill>
            <a:srgbClr val="1F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" name="TextBox 3"/>
          <p:cNvSpPr txBox="1"/>
          <p:nvPr/>
        </p:nvSpPr>
        <p:spPr>
          <a:xfrm>
            <a:off x="639913" y="366558"/>
            <a:ext cx="10969943" cy="5537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99" b="1">
                <a:solidFill>
                  <a:srgbClr val="142A4F"/>
                </a:solidFill>
                <a:latin typeface="Calibri"/>
              </a:rPr>
              <a:t>Results — scored on 2,638 labeled cells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220268"/>
              </p:ext>
            </p:extLst>
          </p:nvPr>
        </p:nvGraphicFramePr>
        <p:xfrm>
          <a:off x="106513" y="1135249"/>
          <a:ext cx="6764798" cy="4936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49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91416" marR="91416" marT="45708" marB="45708">
                    <a:solidFill>
                      <a:srgbClr val="14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 1
Ref. mapping</a:t>
                      </a:r>
                    </a:p>
                  </a:txBody>
                  <a:tcPr marL="91416" marR="91416" marT="45708" marB="45708">
                    <a:solidFill>
                      <a:srgbClr val="14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Method 2
Zero-shot</a:t>
                      </a:r>
                    </a:p>
                  </a:txBody>
                  <a:tcPr marL="91416" marR="91416" marT="45708" marB="45708">
                    <a:solidFill>
                      <a:srgbClr val="142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Accuracy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0.877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7A3E"/>
                          </a:solidFill>
                        </a:rPr>
                        <a:t>0.929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Balanced accuracy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0.904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7A3E"/>
                          </a:solidFill>
                        </a:rPr>
                        <a:t>0.923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Macro-F1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0.879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7A3E"/>
                          </a:solidFill>
                        </a:rPr>
                        <a:t>0.912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Cohen's κ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0.836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7A3E"/>
                          </a:solidFill>
                        </a:rPr>
                        <a:t>0.904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ARI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0.742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7A3E"/>
                          </a:solidFill>
                        </a:rPr>
                        <a:t>0.868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NMI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0.782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7A3E"/>
                          </a:solidFill>
                        </a:rPr>
                        <a:t>0.851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Wall time (s)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54.6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7A3E"/>
                          </a:solidFill>
                        </a:rPr>
                        <a:t>23.3</a:t>
                      </a:r>
                    </a:p>
                  </a:txBody>
                  <a:tcPr marL="91416" marR="91416" marT="45708" marB="45708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4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4F"/>
                          </a:solidFill>
                        </a:rPr>
                        <a:t>Peak memory (MiB)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A5A5A"/>
                          </a:solidFill>
                        </a:rPr>
                        <a:t>478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27A3E"/>
                          </a:solidFill>
                        </a:rPr>
                        <a:t>349</a:t>
                      </a:r>
                    </a:p>
                  </a:txBody>
                  <a:tcPr marL="91416" marR="91416" marT="45708" marB="457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3208" y="2103466"/>
            <a:ext cx="3290983" cy="300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dirty="0">
                <a:solidFill>
                  <a:srgbClr val="FFFFFF"/>
                </a:solidFill>
                <a:latin typeface="Calibri"/>
              </a:rPr>
              <a:t>• Both methods agree strongly with the curated labels (acc ≥ 0.88).</a:t>
            </a:r>
          </a:p>
          <a:p>
            <a:pPr algn="l"/>
            <a:endParaRPr sz="135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350" dirty="0">
                <a:solidFill>
                  <a:srgbClr val="FFFFFF"/>
                </a:solidFill>
                <a:latin typeface="Calibri"/>
              </a:rPr>
              <a:t>• Zero-shot markers edged ahead here: +5 pts accuracy, ~2.3× faster, lower memory.</a:t>
            </a:r>
          </a:p>
          <a:p>
            <a:pPr algn="l"/>
            <a:endParaRPr sz="135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350" dirty="0">
                <a:solidFill>
                  <a:srgbClr val="FFFFFF"/>
                </a:solidFill>
                <a:latin typeface="Calibri"/>
              </a:rPr>
              <a:t>• Shared error modes: CD4↔CD8 T cells and CD14↔FCGR3A monocytes.</a:t>
            </a:r>
          </a:p>
          <a:p>
            <a:pPr algn="l"/>
            <a:endParaRPr sz="135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350" dirty="0">
                <a:solidFill>
                  <a:srgbClr val="FFFFFF"/>
                </a:solidFill>
                <a:latin typeface="Calibri"/>
              </a:rPr>
              <a:t>• Caveat: the ground truth was itself made by clustering + markers, favoring Method 2.</a:t>
            </a:r>
          </a:p>
          <a:p>
            <a:pPr algn="l"/>
            <a:endParaRPr sz="135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350" dirty="0">
                <a:solidFill>
                  <a:srgbClr val="FFFFFF"/>
                </a:solidFill>
                <a:latin typeface="Calibri"/>
              </a:rPr>
              <a:t>• Method 1 needs no manual markers and yields finer immune subtypes for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913" y="6400026"/>
            <a:ext cx="10969943" cy="2615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5A5A5A"/>
                </a:solidFill>
                <a:latin typeface="Calibri"/>
              </a:rPr>
              <a:t>Green = better value. ARI/NMI are name-independent partition-agreement metrics.</a:t>
            </a:r>
          </a:p>
        </p:txBody>
      </p:sp>
      <p:pic>
        <p:nvPicPr>
          <p:cNvPr id="10" name="Picture 9" descr="method2_confusion_matrix.png">
            <a:extLst>
              <a:ext uri="{FF2B5EF4-FFF2-40B4-BE49-F238E27FC236}">
                <a16:creationId xmlns:a16="http://schemas.microsoft.com/office/drawing/2014/main" id="{A325F65B-05B0-3C3F-3CA7-3A57BCB3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11" y="1321127"/>
            <a:ext cx="4918370" cy="42157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68562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Rectangle 2"/>
          <p:cNvSpPr/>
          <p:nvPr/>
        </p:nvSpPr>
        <p:spPr>
          <a:xfrm>
            <a:off x="0" y="893"/>
            <a:ext cx="12188520" cy="164549"/>
          </a:xfrm>
          <a:prstGeom prst="rect">
            <a:avLst/>
          </a:prstGeom>
          <a:solidFill>
            <a:srgbClr val="1F9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4" name="TextBox 3"/>
          <p:cNvSpPr txBox="1"/>
          <p:nvPr/>
        </p:nvSpPr>
        <p:spPr>
          <a:xfrm>
            <a:off x="639913" y="366558"/>
            <a:ext cx="10969943" cy="5537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99" b="1">
                <a:solidFill>
                  <a:srgbClr val="142A4F"/>
                </a:solidFill>
                <a:latin typeface="Calibri"/>
              </a:rPr>
              <a:t>Where the errors are — confusion matrices</a:t>
            </a:r>
          </a:p>
        </p:txBody>
      </p:sp>
      <p:pic>
        <p:nvPicPr>
          <p:cNvPr id="5" name="Picture 4" descr="method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0" y="1372136"/>
            <a:ext cx="5332611" cy="4570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080" y="6034361"/>
            <a:ext cx="5393555" cy="338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9E8E"/>
                </a:solidFill>
                <a:latin typeface="Calibri"/>
              </a:rPr>
              <a:t>Method 1 — reference mapping</a:t>
            </a:r>
          </a:p>
        </p:txBody>
      </p:sp>
      <p:pic>
        <p:nvPicPr>
          <p:cNvPr id="7" name="Picture 6" descr="method2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16" y="1372136"/>
            <a:ext cx="5332611" cy="45708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7716" y="6034361"/>
            <a:ext cx="5393555" cy="338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9E8E"/>
                </a:solidFill>
                <a:latin typeface="Calibri"/>
              </a:rPr>
              <a:t>Method 2 — zero-shot markers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Results — Pancreas (16,382 cells, 14 types)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780" y="1143596"/>
            <a:ext cx="2312019" cy="3076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FB8"/>
                </a:solidFill>
                <a:latin typeface="Calibri"/>
              </a:rPr>
              <a:t>Context-grounded LLM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913" y="1600677"/>
            <a:ext cx="6764798" cy="2215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99" b="1">
                <a:solidFill>
                  <a:srgbClr val="2C7FB8"/>
                </a:solidFill>
                <a:latin typeface="Calibri"/>
              </a:rPr>
              <a:t>0.88  </a:t>
            </a:r>
            <a:r>
              <a:rPr sz="1699">
                <a:solidFill>
                  <a:srgbClr val="222A33"/>
                </a:solidFill>
                <a:latin typeface="Calibri"/>
              </a:rPr>
              <a:t>LLM+context (Sonnet 4.6)  </a:t>
            </a:r>
            <a:r>
              <a:rPr sz="1699" b="1">
                <a:solidFill>
                  <a:srgbClr val="66707A"/>
                </a:solidFill>
                <a:latin typeface="Calibri"/>
              </a:rPr>
              <a:t> &gt;  </a:t>
            </a:r>
            <a:r>
              <a:rPr sz="1699" b="1">
                <a:solidFill>
                  <a:srgbClr val="D95F0E"/>
                </a:solidFill>
                <a:latin typeface="Calibri"/>
              </a:rPr>
              <a:t>0.68  </a:t>
            </a:r>
            <a:r>
              <a:rPr sz="1699">
                <a:solidFill>
                  <a:srgbClr val="222A33"/>
                </a:solidFill>
                <a:latin typeface="Calibri"/>
              </a:rPr>
              <a:t>CellTypist (islet model)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23A5E"/>
                </a:solidFill>
                <a:latin typeface="Calibri"/>
              </a:rPr>
              <a:t>Top of the table: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A33"/>
                </a:solidFill>
                <a:latin typeface="Calibri"/>
              </a:rPr>
              <a:t>•  LLM+context Sonnet 0.88  ·  agnostic Sonnet 0.85  ·  context Haiku 0.82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A33"/>
                </a:solidFill>
                <a:latin typeface="Calibri"/>
              </a:rPr>
              <a:t>•  context Llama 0.78  ·  context Nova 0.76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A33"/>
                </a:solidFill>
                <a:latin typeface="Calibri"/>
              </a:rPr>
              <a:t>•  CellTypist Adult_Human_PancreaticIslet — acc 0.68, but macro-F1 only 0.23</a:t>
            </a:r>
          </a:p>
          <a:p>
            <a:r>
              <a:rPr sz="1500" b="1">
                <a:solidFill>
                  <a:srgbClr val="D95F0E"/>
                </a:solidFill>
                <a:latin typeface="Calibri"/>
              </a:rPr>
              <a:t>Why so low F1? The islet model only knows endocrine cells — it can't label acinar / ductal / stellate (see caveats).</a:t>
            </a:r>
          </a:p>
        </p:txBody>
      </p:sp>
      <p:pic>
        <p:nvPicPr>
          <p:cNvPr id="6" name="Picture 5" descr="pancrea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126" y="1783509"/>
            <a:ext cx="4479393" cy="282546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Does tissue context + literature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780" y="1143596"/>
            <a:ext cx="4707179" cy="3076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FB8"/>
                </a:solidFill>
                <a:latin typeface="Calibri"/>
              </a:rPr>
              <a:t>Yes — most for stronger models and the less-canonical tissue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913" y="1600676"/>
            <a:ext cx="6764798" cy="369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799"/>
          </a:p>
        </p:txBody>
      </p:sp>
      <p:pic>
        <p:nvPicPr>
          <p:cNvPr id="6" name="Picture 5" descr="chart_context_vs_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3" y="1783509"/>
            <a:ext cx="10878526" cy="41536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9913" y="5942945"/>
            <a:ext cx="10878526" cy="52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A33"/>
                </a:solidFill>
                <a:latin typeface="Calibri"/>
              </a:rPr>
              <a:t>Pancreas: every model improved with context (Nova +0.19, Llama +0.21).   PBMC: large lift for Sonnet (0.60→0.85); flat where markers are already unambiguous.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Accuracy vs. compute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780" y="1143596"/>
            <a:ext cx="2404648" cy="3076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C7FB8"/>
                </a:solidFill>
                <a:latin typeface="Calibri"/>
              </a:rPr>
              <a:t>The real engineering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9913" y="1600676"/>
            <a:ext cx="6764798" cy="369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799"/>
          </a:p>
        </p:txBody>
      </p:sp>
      <p:pic>
        <p:nvPicPr>
          <p:cNvPr id="6" name="Picture 5" descr="chart_accuracy_vs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3" y="1737800"/>
            <a:ext cx="10878526" cy="43514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9913" y="5897237"/>
            <a:ext cx="10878526" cy="523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5F0E"/>
                </a:solidFill>
                <a:latin typeface="Calibri"/>
              </a:rPr>
              <a:t>CellTypist: </a:t>
            </a:r>
            <a:r>
              <a:rPr sz="1400">
                <a:solidFill>
                  <a:srgbClr val="222A33"/>
                </a:solidFill>
                <a:latin typeface="Calibri"/>
              </a:rPr>
              <a:t>sub-second–seconds, but bounded by available pre-trained references.   </a:t>
            </a:r>
            <a:r>
              <a:rPr sz="1400" b="1">
                <a:solidFill>
                  <a:srgbClr val="2C7FB8"/>
                </a:solidFill>
                <a:latin typeface="Calibri"/>
              </a:rPr>
              <a:t>LLMs: </a:t>
            </a:r>
            <a:r>
              <a:rPr sz="1400">
                <a:solidFill>
                  <a:srgbClr val="222A33"/>
                </a:solidFill>
                <a:latin typeface="Calibri"/>
              </a:rPr>
              <a:t>5–80 s, no reference needed, generalize to any tissue; model choice matters. Memory flat (~1 GB PBMC, ~6 GB pancreas).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/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99" b="1">
                <a:solidFill>
                  <a:srgbClr val="FFFFFF"/>
                </a:solidFill>
                <a:latin typeface="Calibri"/>
              </a:rPr>
              <a:t>Caveats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9913" y="1600677"/>
            <a:ext cx="6764798" cy="2917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99" b="1">
                <a:solidFill>
                  <a:srgbClr val="123A5E"/>
                </a:solidFill>
                <a:latin typeface="Calibri"/>
              </a:rPr>
              <a:t>Granularity matching dominates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22A33"/>
                </a:solidFill>
                <a:latin typeface="Calibri"/>
              </a:rPr>
              <a:t>Same cells, same tool: coarse model 0.33 → fine model 0.85. Match the reference's resolution to your ground truth.</a:t>
            </a:r>
          </a:p>
          <a:p>
            <a:pPr>
              <a:spcAft>
                <a:spcPts val="200"/>
              </a:spcAft>
            </a:pPr>
            <a:r>
              <a:rPr sz="1699" b="1">
                <a:solidFill>
                  <a:srgbClr val="123A5E"/>
                </a:solidFill>
                <a:latin typeface="Calibri"/>
              </a:rPr>
              <a:t>Reference coverage ≠ tissue coverage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22A33"/>
                </a:solidFill>
                <a:latin typeface="Calibri"/>
              </a:rPr>
              <a:t>Islet model can't label acinar/ductal/stellate → high accuracy, low macro-F1.</a:t>
            </a:r>
          </a:p>
          <a:p>
            <a:pPr>
              <a:spcAft>
                <a:spcPts val="200"/>
              </a:spcAft>
            </a:pPr>
            <a:r>
              <a:rPr sz="1699" b="1">
                <a:solidFill>
                  <a:srgbClr val="123A5E"/>
                </a:solidFill>
                <a:latin typeface="Calibri"/>
              </a:rPr>
              <a:t>The LLM-judge is itself a measurement layer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22A33"/>
                </a:solidFill>
                <a:latin typeface="Calibri"/>
              </a:rPr>
              <a:t>Mapping free-text → canonical labels is noisy (it even scored coarse “T cells” differently for two methods).</a:t>
            </a:r>
          </a:p>
          <a:p>
            <a:pPr>
              <a:spcAft>
                <a:spcPts val="200"/>
              </a:spcAft>
            </a:pPr>
            <a:r>
              <a:rPr sz="1699" b="1">
                <a:solidFill>
                  <a:srgbClr val="123A5E"/>
                </a:solidFill>
                <a:latin typeface="Calibri"/>
              </a:rPr>
              <a:t>Scope</a:t>
            </a:r>
          </a:p>
          <a:p>
            <a:r>
              <a:rPr sz="1400">
                <a:solidFill>
                  <a:srgbClr val="222A33"/>
                </a:solidFill>
                <a:latin typeface="Calibri"/>
              </a:rPr>
              <a:t>Cluster-level eval · no data leakage · only 2 datasets — not a universal claim.</a:t>
            </a:r>
          </a:p>
        </p:txBody>
      </p:sp>
      <p:pic>
        <p:nvPicPr>
          <p:cNvPr id="5" name="Picture 4" descr="cm_pbmc_celltypist_Immune-All-High-pk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376" y="1829217"/>
            <a:ext cx="4022312" cy="4022312"/>
          </a:xfrm>
          <a:prstGeom prst="rect">
            <a:avLst/>
          </a:prstGeom>
        </p:spPr>
      </p:pic>
      <p:pic>
        <p:nvPicPr>
          <p:cNvPr id="6" name="Picture 5" descr="cm_pbmc_celltypist_Immune-All-Low-pk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376" y="4206038"/>
            <a:ext cx="4022312" cy="33519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0376" y="1600676"/>
            <a:ext cx="3210299" cy="2615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7A"/>
                </a:solidFill>
                <a:latin typeface="Calibri"/>
              </a:rPr>
              <a:t>PBMC CellTypist: coarse (top) vs fine (bottom) model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82B6B-9D2E-A759-3E7A-E6EB125C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883A9B-4449-233D-28E7-6F4129F65399}"/>
              </a:ext>
            </a:extLst>
          </p:cNvPr>
          <p:cNvSpPr/>
          <p:nvPr/>
        </p:nvSpPr>
        <p:spPr>
          <a:xfrm>
            <a:off x="0" y="893"/>
            <a:ext cx="12188520" cy="1051286"/>
          </a:xfrm>
          <a:prstGeom prst="rect">
            <a:avLst/>
          </a:prstGeom>
          <a:solidFill>
            <a:srgbClr val="1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8B4EF-5ADF-8855-2278-8D8AA651E7A1}"/>
              </a:ext>
            </a:extLst>
          </p:cNvPr>
          <p:cNvSpPr txBox="1"/>
          <p:nvPr/>
        </p:nvSpPr>
        <p:spPr>
          <a:xfrm>
            <a:off x="548496" y="289585"/>
            <a:ext cx="11061359" cy="4921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599" b="1" dirty="0">
                <a:solidFill>
                  <a:srgbClr val="FFFFFF"/>
                </a:solidFill>
                <a:latin typeface="Calibri"/>
              </a:rPr>
              <a:t>Conclusion</a:t>
            </a:r>
            <a:endParaRPr sz="2599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0411B-C763-553A-C8A5-65C61C1FAD6D}"/>
              </a:ext>
            </a:extLst>
          </p:cNvPr>
          <p:cNvSpPr txBox="1"/>
          <p:nvPr/>
        </p:nvSpPr>
        <p:spPr>
          <a:xfrm>
            <a:off x="694267" y="1727200"/>
            <a:ext cx="11091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When well established reference available, reference mapping tends to give high accurate results. LLMs can support pipeline building when specify tools and reference.</a:t>
            </a:r>
          </a:p>
          <a:p>
            <a:pPr marL="342900" indent="-342900">
              <a:buAutoNum type="arabicPeriod"/>
            </a:pPr>
            <a:r>
              <a:rPr lang="en-US" dirty="0"/>
              <a:t>For novel tissues, using correct prompts with advanced LLMs can achieve better results than reference mapping and largely accelerate manual labeling.</a:t>
            </a:r>
          </a:p>
        </p:txBody>
      </p:sp>
    </p:spTree>
    <p:extLst>
      <p:ext uri="{BB962C8B-B14F-4D97-AF65-F5344CB8AC3E}">
        <p14:creationId xmlns:p14="http://schemas.microsoft.com/office/powerpoint/2010/main" val="3277146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7E459-A2D4-50F7-0C98-399F68CE1B5A}"/>
              </a:ext>
            </a:extLst>
          </p:cNvPr>
          <p:cNvSpPr txBox="1"/>
          <p:nvPr/>
        </p:nvSpPr>
        <p:spPr>
          <a:xfrm>
            <a:off x="3429000" y="1642533"/>
            <a:ext cx="496161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3583151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329" y="457974"/>
            <a:ext cx="2001309" cy="584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3199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745" y="1463553"/>
            <a:ext cx="10604278" cy="2855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99" b="1">
                <a:solidFill>
                  <a:srgbClr val="9EC7E6"/>
                </a:solidFill>
                <a:latin typeface="Calibri"/>
              </a:rPr>
              <a:t>•  When fairly matched, a context-grounded LLM ≈ CellTypist on accuracy.</a:t>
            </a:r>
          </a:p>
          <a:p>
            <a:pPr>
              <a:spcAft>
                <a:spcPts val="1400"/>
              </a:spcAft>
            </a:pPr>
            <a:r>
              <a:rPr sz="1899">
                <a:solidFill>
                  <a:srgbClr val="FFFFFF"/>
                </a:solidFill>
                <a:latin typeface="Calibri"/>
              </a:rPr>
              <a:t>•  CellTypist: faster and cheap — but bounded by which pre-trained references exist.</a:t>
            </a:r>
          </a:p>
          <a:p>
            <a:pPr>
              <a:spcAft>
                <a:spcPts val="1400"/>
              </a:spcAft>
            </a:pPr>
            <a:r>
              <a:rPr sz="1899">
                <a:solidFill>
                  <a:srgbClr val="FFFFFF"/>
                </a:solidFill>
                <a:latin typeface="Calibri"/>
              </a:rPr>
              <a:t>•  LLM: reference-free, tissue-agnostic, improves with context + literature; best with a strong model (Sonnet).</a:t>
            </a:r>
          </a:p>
          <a:p>
            <a:pPr>
              <a:spcAft>
                <a:spcPts val="1400"/>
              </a:spcAft>
            </a:pPr>
            <a:r>
              <a:rPr sz="1899">
                <a:solidFill>
                  <a:srgbClr val="FFFFFF"/>
                </a:solidFill>
                <a:latin typeface="Calibri"/>
              </a:rPr>
              <a:t>•  Emerging practice: LLMs for novel tissues / niche subsets; reference transfer when a well-matched model exists.</a:t>
            </a:r>
          </a:p>
          <a:p>
            <a:pPr>
              <a:spcAft>
                <a:spcPts val="1400"/>
              </a:spcAft>
            </a:pPr>
            <a:r>
              <a:rPr sz="1899" b="1">
                <a:solidFill>
                  <a:srgbClr val="9EC7E6"/>
                </a:solidFill>
                <a:latin typeface="Calibri"/>
              </a:rPr>
              <a:t>•  Entire tool — design, multi-model benchmark, debugging — built in one Claude Code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3088</Words>
  <Application>Microsoft Office PowerPoint</Application>
  <PresentationFormat>Custom</PresentationFormat>
  <Paragraphs>397</Paragraphs>
  <Slides>35</Slides>
  <Notes>11</Notes>
  <HiddenSlides>10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Algerian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Chenhao Wu</cp:lastModifiedBy>
  <cp:revision>16</cp:revision>
  <dcterms:created xsi:type="dcterms:W3CDTF">2013-01-27T09:14:16Z</dcterms:created>
  <dcterms:modified xsi:type="dcterms:W3CDTF">2026-05-31T19:49:35Z</dcterms:modified>
  <cp:category/>
</cp:coreProperties>
</file>